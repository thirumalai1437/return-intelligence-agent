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8" r:id="rId1"/>
  </p:sldMasterIdLst>
  <p:notesMasterIdLst>
    <p:notesMasterId r:id="rId9"/>
  </p:notesMasterIdLst>
  <p:sldIdLst>
    <p:sldId id="266" r:id="rId2"/>
    <p:sldId id="267" r:id="rId3"/>
    <p:sldId id="268" r:id="rId4"/>
    <p:sldId id="269" r:id="rId5"/>
    <p:sldId id="270" r:id="rId6"/>
    <p:sldId id="271" r:id="rId7"/>
    <p:sldId id="272" r:id="rId8"/>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F1FD5C-504F-45D1-808C-AA685573C218}">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615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07056" y="3017521"/>
            <a:ext cx="10698479" cy="2715337"/>
          </a:xfrm>
        </p:spPr>
        <p:txBody>
          <a:bodyPr anchor="b">
            <a:normAutofit/>
          </a:bodyPr>
          <a:lstStyle>
            <a:lvl1pPr>
              <a:defRPr sz="6480"/>
            </a:lvl1pPr>
          </a:lstStyle>
          <a:p>
            <a:r>
              <a:rPr lang="en-US"/>
              <a:t>Click to edit Master title style</a:t>
            </a:r>
            <a:endParaRPr lang="en-US" dirty="0"/>
          </a:p>
        </p:txBody>
      </p:sp>
      <p:sp>
        <p:nvSpPr>
          <p:cNvPr id="3" name="Subtitle 2"/>
          <p:cNvSpPr>
            <a:spLocks noGrp="1"/>
          </p:cNvSpPr>
          <p:nvPr>
            <p:ph type="subTitle" idx="1"/>
          </p:nvPr>
        </p:nvSpPr>
        <p:spPr>
          <a:xfrm>
            <a:off x="3107056" y="5732855"/>
            <a:ext cx="10698479" cy="1351540"/>
          </a:xfrm>
        </p:spPr>
        <p:txBody>
          <a:bodyPr anchor="t"/>
          <a:lstStyle>
            <a:lvl1pPr marL="0" indent="0" algn="l">
              <a:buNone/>
              <a:defRPr>
                <a:solidFill>
                  <a:schemeClr val="tx1">
                    <a:lumMod val="65000"/>
                    <a:lumOff val="3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5188573"/>
            <a:ext cx="2093582" cy="934307"/>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638175" y="5435449"/>
            <a:ext cx="935720" cy="43815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4515847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11511" y="748932"/>
            <a:ext cx="10694024" cy="1537068"/>
          </a:xfrm>
        </p:spPr>
        <p:txBody>
          <a:bodyPr/>
          <a:lstStyle/>
          <a:p>
            <a:r>
              <a:rPr lang="en-US"/>
              <a:t>Click to edit Master title style</a:t>
            </a:r>
            <a:endParaRPr lang="en-US" dirty="0"/>
          </a:p>
        </p:txBody>
      </p:sp>
      <p:sp>
        <p:nvSpPr>
          <p:cNvPr id="3" name="Content Placeholder 2"/>
          <p:cNvSpPr>
            <a:spLocks noGrp="1"/>
          </p:cNvSpPr>
          <p:nvPr>
            <p:ph idx="1"/>
          </p:nvPr>
        </p:nvSpPr>
        <p:spPr>
          <a:xfrm>
            <a:off x="3107054" y="2560320"/>
            <a:ext cx="10698480" cy="45331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3784236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7055" y="2470500"/>
            <a:ext cx="10698479" cy="1762560"/>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3107055" y="4236155"/>
            <a:ext cx="10698479" cy="1032480"/>
          </a:xfrm>
        </p:spPr>
        <p:txBody>
          <a:bodyPr anchor="t"/>
          <a:lstStyle>
            <a:lvl1pPr marL="0" indent="0" algn="l">
              <a:buNone/>
              <a:defRPr sz="240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638175" y="3892967"/>
            <a:ext cx="935720" cy="43815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8135980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107054" y="2560320"/>
            <a:ext cx="5176637" cy="453314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628896" y="2551467"/>
            <a:ext cx="5176637" cy="453314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638175" y="945339"/>
            <a:ext cx="935720"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04136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527248" y="2367244"/>
            <a:ext cx="479127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3107055" y="3058759"/>
            <a:ext cx="5211472" cy="40248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007956" y="2363370"/>
            <a:ext cx="4798801"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8600348" y="3054886"/>
            <a:ext cx="5206409" cy="40248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638175" y="945339"/>
            <a:ext cx="935720"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519625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3/13/2026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7472342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3/13/2026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4277179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5" y="535306"/>
            <a:ext cx="4206239" cy="1171574"/>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7587614" y="535306"/>
            <a:ext cx="6217920" cy="6497956"/>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07055" y="1918336"/>
            <a:ext cx="4206239" cy="511492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123984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6" y="5760720"/>
            <a:ext cx="1069848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107054" y="761958"/>
            <a:ext cx="10698480" cy="4625964"/>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3107056" y="6440806"/>
            <a:ext cx="10698480"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638175" y="5979705"/>
            <a:ext cx="935720" cy="438150"/>
          </a:xfrm>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2871796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107055" y="731520"/>
            <a:ext cx="10698479" cy="3740448"/>
          </a:xfrm>
        </p:spPr>
        <p:txBody>
          <a:bodyPr anchor="ctr">
            <a:normAutofit/>
          </a:bodyPr>
          <a:lstStyle>
            <a:lvl1pPr algn="l">
              <a:defRPr sz="5760" b="0" cap="none"/>
            </a:lvl1pPr>
          </a:lstStyle>
          <a:p>
            <a:r>
              <a:rPr lang="en-US"/>
              <a:t>Click to edit Master title style</a:t>
            </a:r>
            <a:endParaRPr lang="en-US" dirty="0"/>
          </a:p>
        </p:txBody>
      </p:sp>
      <p:sp>
        <p:nvSpPr>
          <p:cNvPr id="3" name="Text Placeholder 2"/>
          <p:cNvSpPr>
            <a:spLocks noGrp="1"/>
          </p:cNvSpPr>
          <p:nvPr>
            <p:ph type="body" idx="1"/>
          </p:nvPr>
        </p:nvSpPr>
        <p:spPr>
          <a:xfrm>
            <a:off x="3107055" y="5224855"/>
            <a:ext cx="10698479" cy="1867037"/>
          </a:xfrm>
        </p:spPr>
        <p:txBody>
          <a:bodyPr anchor="ctr">
            <a:normAutofit/>
          </a:bodyPr>
          <a:lstStyle>
            <a:lvl1pPr marL="0" indent="0" algn="l">
              <a:buNone/>
              <a:defRPr sz="216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638175" y="3892967"/>
            <a:ext cx="935720"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667580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19939" y="731520"/>
            <a:ext cx="10072711" cy="3474720"/>
          </a:xfrm>
        </p:spPr>
        <p:txBody>
          <a:bodyPr anchor="ctr">
            <a:normAutofit/>
          </a:bodyPr>
          <a:lstStyle>
            <a:lvl1pPr algn="l">
              <a:defRPr sz="576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930014" y="4206240"/>
            <a:ext cx="9043865"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3107055" y="5224855"/>
            <a:ext cx="10698479" cy="1867037"/>
          </a:xfrm>
        </p:spPr>
        <p:txBody>
          <a:bodyPr anchor="ctr">
            <a:normAutofit/>
          </a:bodyPr>
          <a:lstStyle>
            <a:lvl1pPr marL="0" indent="0" algn="l">
              <a:buNone/>
              <a:defRPr sz="2160">
                <a:solidFill>
                  <a:schemeClr val="tx1">
                    <a:lumMod val="65000"/>
                    <a:lumOff val="3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026" y="381381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638175" y="3892967"/>
            <a:ext cx="935720" cy="438150"/>
          </a:xfrm>
        </p:spPr>
        <p:txBody>
          <a:bodyPr/>
          <a:lstStyle/>
          <a:p>
            <a:fld id="{4FAB73BC-B049-4115-A692-8D63A059BFB8}" type="slidenum">
              <a:rPr lang="en-US" smtClean="0"/>
              <a:pPr/>
              <a:t>‹#›</a:t>
            </a:fld>
            <a:endParaRPr lang="en-US" dirty="0"/>
          </a:p>
        </p:txBody>
      </p:sp>
      <p:sp>
        <p:nvSpPr>
          <p:cNvPr id="14" name="TextBox 13"/>
          <p:cNvSpPr txBox="1"/>
          <p:nvPr/>
        </p:nvSpPr>
        <p:spPr>
          <a:xfrm>
            <a:off x="2961182" y="777606"/>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15" name="TextBox 14"/>
          <p:cNvSpPr txBox="1"/>
          <p:nvPr/>
        </p:nvSpPr>
        <p:spPr>
          <a:xfrm>
            <a:off x="13337822" y="3486367"/>
            <a:ext cx="731520" cy="701731"/>
          </a:xfrm>
          <a:prstGeom prst="rect">
            <a:avLst/>
          </a:prstGeom>
        </p:spPr>
        <p:txBody>
          <a:bodyPr vert="horz" lIns="109728" tIns="54864" rIns="109728" bIns="54864" rtlCol="0" anchor="ctr">
            <a:noAutofit/>
          </a:bodyPr>
          <a:lstStyle/>
          <a:p>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135680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107056" y="2926081"/>
            <a:ext cx="10698480" cy="3269814"/>
          </a:xfrm>
        </p:spPr>
        <p:txBody>
          <a:bodyPr anchor="b">
            <a:normAutofit/>
          </a:bodyPr>
          <a:lstStyle>
            <a:lvl1pPr algn="l">
              <a:defRPr sz="5760" b="0"/>
            </a:lvl1pPr>
          </a:lstStyle>
          <a:p>
            <a:r>
              <a:rPr lang="en-US"/>
              <a:t>Click to edit Master title style</a:t>
            </a:r>
            <a:endParaRPr lang="en-US" dirty="0"/>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638175" y="5979705"/>
            <a:ext cx="935720"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402654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3419939" y="731520"/>
            <a:ext cx="10072711" cy="3474720"/>
          </a:xfrm>
        </p:spPr>
        <p:txBody>
          <a:bodyPr anchor="ctr">
            <a:normAutofit/>
          </a:bodyPr>
          <a:lstStyle>
            <a:lvl1pPr algn="l">
              <a:defRPr sz="576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3107054" y="5212080"/>
            <a:ext cx="10698480" cy="1005840"/>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638175" y="5979705"/>
            <a:ext cx="935720" cy="438150"/>
          </a:xfrm>
        </p:spPr>
        <p:txBody>
          <a:bodyPr/>
          <a:lstStyle/>
          <a:p>
            <a:fld id="{4FAB73BC-B049-4115-A692-8D63A059BFB8}" type="slidenum">
              <a:rPr lang="en-US" smtClean="0"/>
              <a:pPr/>
              <a:t>‹#›</a:t>
            </a:fld>
            <a:endParaRPr lang="en-US" dirty="0"/>
          </a:p>
        </p:txBody>
      </p:sp>
      <p:sp>
        <p:nvSpPr>
          <p:cNvPr id="17" name="TextBox 16"/>
          <p:cNvSpPr txBox="1"/>
          <p:nvPr/>
        </p:nvSpPr>
        <p:spPr>
          <a:xfrm>
            <a:off x="2961182" y="777606"/>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18" name="TextBox 17"/>
          <p:cNvSpPr txBox="1"/>
          <p:nvPr/>
        </p:nvSpPr>
        <p:spPr>
          <a:xfrm>
            <a:off x="13337822" y="34863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9827807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3107055" y="752888"/>
            <a:ext cx="10698479" cy="3456024"/>
          </a:xfrm>
        </p:spPr>
        <p:txBody>
          <a:bodyPr anchor="ctr">
            <a:normAutofit/>
          </a:bodyPr>
          <a:lstStyle>
            <a:lvl1pPr algn="l">
              <a:defRPr sz="5760" b="0"/>
            </a:lvl1pPr>
          </a:lstStyle>
          <a:p>
            <a:r>
              <a:rPr lang="en-US"/>
              <a:t>Click to edit Master title style</a:t>
            </a:r>
            <a:endParaRPr lang="en-US" dirty="0"/>
          </a:p>
        </p:txBody>
      </p:sp>
      <p:sp>
        <p:nvSpPr>
          <p:cNvPr id="21" name="Text Placeholder 9"/>
          <p:cNvSpPr>
            <a:spLocks noGrp="1"/>
          </p:cNvSpPr>
          <p:nvPr>
            <p:ph type="body" sz="quarter" idx="13"/>
          </p:nvPr>
        </p:nvSpPr>
        <p:spPr>
          <a:xfrm>
            <a:off x="3107054" y="5212080"/>
            <a:ext cx="10698480" cy="1005840"/>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3107056" y="6217920"/>
            <a:ext cx="10698480" cy="875546"/>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026" y="589407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638175" y="5979705"/>
            <a:ext cx="935720"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4560674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4463765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153775" y="752887"/>
            <a:ext cx="2649121" cy="6340580"/>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3107054" y="752887"/>
            <a:ext cx="7772400" cy="63405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5026" y="857251"/>
            <a:ext cx="1906232" cy="608756"/>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7045062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814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74320"/>
            <a:ext cx="3421819" cy="7966354"/>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32665" y="-38"/>
            <a:ext cx="2828009" cy="8223942"/>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219456" cy="8229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3111510" y="748932"/>
            <a:ext cx="10694024" cy="15370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107054" y="2560320"/>
            <a:ext cx="10698480" cy="46634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433935" y="7356525"/>
            <a:ext cx="1375540" cy="444475"/>
          </a:xfrm>
          <a:prstGeom prst="rect">
            <a:avLst/>
          </a:prstGeom>
        </p:spPr>
        <p:txBody>
          <a:bodyPr vert="horz" lIns="91440" tIns="45720" rIns="91440" bIns="45720" rtlCol="0" anchor="ctr"/>
          <a:lstStyle>
            <a:lvl1pPr algn="r">
              <a:defRPr sz="1080">
                <a:solidFill>
                  <a:schemeClr val="tx1">
                    <a:tint val="75000"/>
                  </a:schemeClr>
                </a:solidFill>
              </a:defRPr>
            </a:lvl1pPr>
          </a:lstStyle>
          <a:p>
            <a:fld id="{90298CD5-6C1E-4009-B41F-6DF62E31D3BE}" type="datetimeFigureOut">
              <a:rPr lang="en-US" smtClean="0"/>
              <a:pPr/>
              <a:t>3/13/2026</a:t>
            </a:fld>
            <a:endParaRPr lang="en-US" dirty="0"/>
          </a:p>
        </p:txBody>
      </p:sp>
      <p:sp>
        <p:nvSpPr>
          <p:cNvPr id="5" name="Footer Placeholder 4"/>
          <p:cNvSpPr>
            <a:spLocks noGrp="1"/>
          </p:cNvSpPr>
          <p:nvPr>
            <p:ph type="ftr" sz="quarter" idx="3"/>
          </p:nvPr>
        </p:nvSpPr>
        <p:spPr>
          <a:xfrm>
            <a:off x="3107055" y="7362970"/>
            <a:ext cx="9143999"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38175" y="945339"/>
            <a:ext cx="935720" cy="438150"/>
          </a:xfrm>
          <a:prstGeom prst="rect">
            <a:avLst/>
          </a:prstGeom>
        </p:spPr>
        <p:txBody>
          <a:bodyPr vert="horz" lIns="91440" tIns="45720" rIns="91440" bIns="45720" rtlCol="0" anchor="ctr"/>
          <a:lstStyle>
            <a:lvl1pPr algn="r">
              <a:defRPr sz="2400">
                <a:solidFill>
                  <a:srgbClr val="FE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9213946"/>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sldNum="0" hdr="0" ftr="0" dt="0"/>
  <p:txStyles>
    <p:titleStyle>
      <a:lvl1pPr algn="l" defTabSz="548640" rtl="0" eaLnBrk="1" latinLnBrk="0" hangingPunct="1">
        <a:spcBef>
          <a:spcPct val="0"/>
        </a:spcBef>
        <a:buNone/>
        <a:defRPr sz="432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Thirumalai1437/Return-Intelligence-Agent"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6">
            <a:extLst>
              <a:ext uri="{FF2B5EF4-FFF2-40B4-BE49-F238E27FC236}">
                <a16:creationId xmlns:a16="http://schemas.microsoft.com/office/drawing/2014/main" id="{A443F012-A773-1D9A-2B8A-9B6DC8D36048}"/>
              </a:ext>
            </a:extLst>
          </p:cNvPr>
          <p:cNvSpPr/>
          <p:nvPr/>
        </p:nvSpPr>
        <p:spPr>
          <a:xfrm>
            <a:off x="1393288" y="0"/>
            <a:ext cx="2453881" cy="2355334"/>
          </a:xfrm>
          <a:custGeom>
            <a:avLst/>
            <a:gdLst/>
            <a:ahLst/>
            <a:cxnLst/>
            <a:rect l="l" t="t" r="r" b="b"/>
            <a:pathLst>
              <a:path w="1691319" h="1645489">
                <a:moveTo>
                  <a:pt x="0" y="0"/>
                </a:moveTo>
                <a:lnTo>
                  <a:pt x="1691320" y="0"/>
                </a:lnTo>
                <a:lnTo>
                  <a:pt x="1691320" y="1645489"/>
                </a:lnTo>
                <a:lnTo>
                  <a:pt x="0" y="1645489"/>
                </a:lnTo>
                <a:lnTo>
                  <a:pt x="0" y="0"/>
                </a:lnTo>
                <a:close/>
              </a:path>
            </a:pathLst>
          </a:custGeom>
          <a:blipFill>
            <a:blip r:embed="rId2"/>
            <a:stretch>
              <a:fillRect t="-2550" b="-2550"/>
            </a:stretch>
          </a:blipFill>
        </p:spPr>
        <p:txBody>
          <a:bodyPr/>
          <a:lstStyle/>
          <a:p>
            <a:endParaRPr lang="en-IN" dirty="0"/>
          </a:p>
        </p:txBody>
      </p:sp>
      <p:pic>
        <p:nvPicPr>
          <p:cNvPr id="5" name="Picture 4">
            <a:extLst>
              <a:ext uri="{FF2B5EF4-FFF2-40B4-BE49-F238E27FC236}">
                <a16:creationId xmlns:a16="http://schemas.microsoft.com/office/drawing/2014/main" id="{4853175A-BEE3-D032-0041-660E6B473C46}"/>
              </a:ext>
            </a:extLst>
          </p:cNvPr>
          <p:cNvPicPr>
            <a:picLocks noChangeAspect="1"/>
          </p:cNvPicPr>
          <p:nvPr/>
        </p:nvPicPr>
        <p:blipFill>
          <a:blip r:embed="rId3"/>
          <a:stretch>
            <a:fillRect/>
          </a:stretch>
        </p:blipFill>
        <p:spPr>
          <a:xfrm>
            <a:off x="2973389" y="-416497"/>
            <a:ext cx="9620322" cy="2773920"/>
          </a:xfrm>
          <a:prstGeom prst="rect">
            <a:avLst/>
          </a:prstGeom>
        </p:spPr>
      </p:pic>
      <p:sp>
        <p:nvSpPr>
          <p:cNvPr id="7" name="TextBox 6">
            <a:extLst>
              <a:ext uri="{FF2B5EF4-FFF2-40B4-BE49-F238E27FC236}">
                <a16:creationId xmlns:a16="http://schemas.microsoft.com/office/drawing/2014/main" id="{C311E5E7-3EF6-33C7-4F55-49BDE9AD2BC1}"/>
              </a:ext>
            </a:extLst>
          </p:cNvPr>
          <p:cNvSpPr txBox="1"/>
          <p:nvPr/>
        </p:nvSpPr>
        <p:spPr>
          <a:xfrm>
            <a:off x="2386051" y="2910468"/>
            <a:ext cx="11140377" cy="3812390"/>
          </a:xfrm>
          <a:prstGeom prst="rect">
            <a:avLst/>
          </a:prstGeom>
          <a:noFill/>
        </p:spPr>
        <p:txBody>
          <a:bodyPr wrap="square">
            <a:spAutoFit/>
          </a:bodyPr>
          <a:lstStyle/>
          <a:p>
            <a:pPr algn="ctr">
              <a:lnSpc>
                <a:spcPts val="5179"/>
              </a:lnSpc>
              <a:spcBef>
                <a:spcPct val="0"/>
              </a:spcBef>
            </a:pPr>
            <a:r>
              <a:rPr lang="en-US" sz="3600" b="1" dirty="0">
                <a:solidFill>
                  <a:srgbClr val="000000"/>
                </a:solidFill>
                <a:effectLst>
                  <a:outerShdw blurRad="38100" dist="38100" dir="2700000" algn="tl">
                    <a:srgbClr val="000000">
                      <a:alpha val="43137"/>
                    </a:srgbClr>
                  </a:outerShdw>
                </a:effectLst>
                <a:latin typeface="Open Sans"/>
                <a:ea typeface="Open Sans"/>
                <a:cs typeface="Open Sans"/>
                <a:sym typeface="Open Sans"/>
              </a:rPr>
              <a:t>Return Intelligence Agent</a:t>
            </a:r>
            <a:endParaRPr lang="en-US" sz="2800" b="1" dirty="0">
              <a:solidFill>
                <a:srgbClr val="000000"/>
              </a:solidFill>
              <a:effectLst>
                <a:outerShdw blurRad="38100" dist="38100" dir="2700000" algn="tl">
                  <a:srgbClr val="000000">
                    <a:alpha val="43137"/>
                  </a:srgbClr>
                </a:outerShdw>
              </a:effectLst>
              <a:latin typeface="Open Sans"/>
              <a:ea typeface="Open Sans"/>
              <a:cs typeface="Open Sans"/>
              <a:sym typeface="Open Sans"/>
            </a:endParaRPr>
          </a:p>
          <a:p>
            <a:pPr algn="ctr">
              <a:spcBef>
                <a:spcPct val="0"/>
              </a:spcBef>
            </a:pPr>
            <a:endParaRPr lang="en-US" sz="2800" b="1" dirty="0">
              <a:solidFill>
                <a:srgbClr val="000000"/>
              </a:solidFill>
              <a:effectLst>
                <a:outerShdw blurRad="38100" dist="38100" dir="2700000" algn="tl">
                  <a:srgbClr val="000000">
                    <a:alpha val="43137"/>
                  </a:srgbClr>
                </a:outerShdw>
              </a:effectLst>
              <a:latin typeface="Open Sans"/>
              <a:ea typeface="Open Sans"/>
              <a:cs typeface="Open Sans"/>
              <a:sym typeface="Open Sans"/>
            </a:endParaRPr>
          </a:p>
          <a:p>
            <a:pPr>
              <a:spcBef>
                <a:spcPct val="0"/>
              </a:spcBef>
            </a:pPr>
            <a:r>
              <a:rPr lang="en-US" sz="3200" b="1" dirty="0">
                <a:solidFill>
                  <a:srgbClr val="000000"/>
                </a:solidFill>
                <a:latin typeface="Times New Roman" panose="02020603050405020304" pitchFamily="18" charset="0"/>
                <a:ea typeface="Open Sans"/>
                <a:cs typeface="Times New Roman" panose="02020603050405020304" pitchFamily="18" charset="0"/>
                <a:sym typeface="Open Sans"/>
              </a:rPr>
              <a:t>TEAM : INNOVATORS</a:t>
            </a:r>
          </a:p>
          <a:p>
            <a:pPr>
              <a:spcBef>
                <a:spcPct val="0"/>
              </a:spcBef>
            </a:pPr>
            <a:endParaRPr lang="en-US" sz="3200" b="1" dirty="0">
              <a:solidFill>
                <a:srgbClr val="000000"/>
              </a:solidFill>
              <a:latin typeface="Times New Roman" panose="02020603050405020304" pitchFamily="18" charset="0"/>
              <a:ea typeface="Open Sans"/>
              <a:cs typeface="Times New Roman" panose="02020603050405020304" pitchFamily="18" charset="0"/>
              <a:sym typeface="Open Sans"/>
            </a:endParaRPr>
          </a:p>
          <a:p>
            <a:pPr>
              <a:spcBef>
                <a:spcPct val="0"/>
              </a:spcBef>
            </a:pPr>
            <a:r>
              <a:rPr lang="en-US" sz="2000" b="1" dirty="0">
                <a:solidFill>
                  <a:srgbClr val="000000"/>
                </a:solidFill>
                <a:latin typeface="Times New Roman" panose="02020603050405020304" pitchFamily="18" charset="0"/>
                <a:ea typeface="Open Sans"/>
                <a:cs typeface="Times New Roman" panose="02020603050405020304" pitchFamily="18" charset="0"/>
                <a:sym typeface="Open Sans"/>
              </a:rPr>
              <a:t>1.THIRUMALAISELVAN R   </a:t>
            </a:r>
          </a:p>
          <a:p>
            <a:pPr>
              <a:lnSpc>
                <a:spcPct val="150000"/>
              </a:lnSpc>
              <a:spcBef>
                <a:spcPct val="0"/>
              </a:spcBef>
            </a:pPr>
            <a:r>
              <a:rPr lang="en-US" sz="2000" b="1" dirty="0">
                <a:solidFill>
                  <a:srgbClr val="000000"/>
                </a:solidFill>
                <a:latin typeface="Times New Roman" panose="02020603050405020304" pitchFamily="18" charset="0"/>
                <a:ea typeface="Open Sans"/>
                <a:cs typeface="Times New Roman" panose="02020603050405020304" pitchFamily="18" charset="0"/>
                <a:sym typeface="Open Sans"/>
              </a:rPr>
              <a:t>2.SANJEEV KUMAR GANESH</a:t>
            </a:r>
          </a:p>
          <a:p>
            <a:pPr>
              <a:lnSpc>
                <a:spcPct val="150000"/>
              </a:lnSpc>
              <a:spcBef>
                <a:spcPct val="0"/>
              </a:spcBef>
            </a:pPr>
            <a:r>
              <a:rPr lang="en-US" sz="2000" b="1" dirty="0">
                <a:solidFill>
                  <a:srgbClr val="000000"/>
                </a:solidFill>
                <a:latin typeface="Times New Roman" panose="02020603050405020304" pitchFamily="18" charset="0"/>
                <a:ea typeface="Open Sans"/>
                <a:cs typeface="Times New Roman" panose="02020603050405020304" pitchFamily="18" charset="0"/>
                <a:sym typeface="Open Sans"/>
              </a:rPr>
              <a:t>3.THAANISH B</a:t>
            </a:r>
          </a:p>
          <a:p>
            <a:pPr>
              <a:lnSpc>
                <a:spcPct val="150000"/>
              </a:lnSpc>
              <a:spcBef>
                <a:spcPct val="0"/>
              </a:spcBef>
            </a:pPr>
            <a:r>
              <a:rPr lang="en-US" sz="2000" b="1" dirty="0">
                <a:solidFill>
                  <a:srgbClr val="000000"/>
                </a:solidFill>
                <a:latin typeface="Times New Roman" panose="02020603050405020304" pitchFamily="18" charset="0"/>
                <a:ea typeface="Open Sans"/>
                <a:cs typeface="Times New Roman" panose="02020603050405020304" pitchFamily="18" charset="0"/>
                <a:sym typeface="Open Sans"/>
              </a:rPr>
              <a:t>4.NITHISH KUMAR D</a:t>
            </a:r>
          </a:p>
        </p:txBody>
      </p:sp>
    </p:spTree>
    <p:extLst>
      <p:ext uri="{BB962C8B-B14F-4D97-AF65-F5344CB8AC3E}">
        <p14:creationId xmlns:p14="http://schemas.microsoft.com/office/powerpoint/2010/main" val="37031574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EE2D-3325-5668-F5A1-A880A952B1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2DE280C-3160-E8C6-761F-A2A0F252EC4C}"/>
              </a:ext>
            </a:extLst>
          </p:cNvPr>
          <p:cNvSpPr txBox="1"/>
          <p:nvPr/>
        </p:nvSpPr>
        <p:spPr>
          <a:xfrm>
            <a:off x="1745011" y="669073"/>
            <a:ext cx="11140377" cy="5786199"/>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Problem Statement</a:t>
            </a:r>
          </a:p>
          <a:p>
            <a:pPr algn="ctr">
              <a:spcBef>
                <a:spcPct val="0"/>
              </a:spcBef>
            </a:pPr>
            <a:endParaRPr lang="en-US" sz="2800" b="1" dirty="0">
              <a:solidFill>
                <a:srgbClr val="000000"/>
              </a:solidFill>
              <a:effectLst>
                <a:outerShdw blurRad="38100" dist="38100" dir="2700000" algn="tl">
                  <a:srgbClr val="000000">
                    <a:alpha val="43137"/>
                  </a:srgbClr>
                </a:outerShdw>
              </a:effectLst>
              <a:latin typeface="Open Sans"/>
              <a:ea typeface="Open Sans"/>
              <a:cs typeface="Open Sans"/>
              <a:sym typeface="Open Sans"/>
            </a:endParaRPr>
          </a:p>
          <a:p>
            <a:pPr>
              <a:spcBef>
                <a:spcPct val="0"/>
              </a:spcBef>
            </a:pPr>
            <a:endParaRPr lang="en-US" dirty="0"/>
          </a:p>
          <a:p>
            <a:pPr>
              <a:spcBef>
                <a:spcPct val="0"/>
              </a:spcBef>
            </a:pPr>
            <a:endParaRPr lang="en-US" dirty="0"/>
          </a:p>
          <a:p>
            <a:pPr>
              <a:spcBef>
                <a:spcPct val="0"/>
              </a:spcBef>
            </a:pPr>
            <a:endParaRPr lang="en-US" dirty="0"/>
          </a:p>
          <a:p>
            <a:pPr algn="just">
              <a:spcBef>
                <a:spcPct val="0"/>
              </a:spcBef>
            </a:pPr>
            <a:r>
              <a:rPr lang="en-US" sz="3600" dirty="0">
                <a:latin typeface="Times New Roman" panose="02020603050405020304" pitchFamily="18" charset="0"/>
                <a:cs typeface="Times New Roman" panose="02020603050405020304" pitchFamily="18" charset="0"/>
              </a:rPr>
              <a:t>E-commerce businesses face significant financial losses due to product returns, often caused by easily fixable issues hidden within thousands of customer reviews. Sellers lack the tools to quickly aggregate and analyze this feedback. The Return Intelligence Agent bridges this gap by transforming raw review data into structured business intelligence.</a:t>
            </a:r>
            <a:endParaRPr lang="en-US" sz="4000" b="1" dirty="0">
              <a:solidFill>
                <a:srgbClr val="000000"/>
              </a:solidFill>
              <a:latin typeface="Times New Roman" panose="02020603050405020304" pitchFamily="18" charset="0"/>
              <a:ea typeface="Open Sans"/>
              <a:cs typeface="Times New Roman" panose="02020603050405020304" pitchFamily="18" charset="0"/>
              <a:sym typeface="Open Sans"/>
            </a:endParaRPr>
          </a:p>
        </p:txBody>
      </p:sp>
    </p:spTree>
    <p:extLst>
      <p:ext uri="{BB962C8B-B14F-4D97-AF65-F5344CB8AC3E}">
        <p14:creationId xmlns:p14="http://schemas.microsoft.com/office/powerpoint/2010/main" val="130214841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31707-C05A-8B13-E947-E54765DB07C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7417D76-4D0A-0587-C940-1FFF8E78E320}"/>
              </a:ext>
            </a:extLst>
          </p:cNvPr>
          <p:cNvSpPr txBox="1"/>
          <p:nvPr/>
        </p:nvSpPr>
        <p:spPr>
          <a:xfrm>
            <a:off x="1745011" y="579863"/>
            <a:ext cx="11140377" cy="6863417"/>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Solution</a:t>
            </a:r>
          </a:p>
          <a:p>
            <a:pPr>
              <a:spcBef>
                <a:spcPct val="0"/>
              </a:spcBef>
            </a:pPr>
            <a:endParaRPr lang="en-US" dirty="0"/>
          </a:p>
          <a:p>
            <a:pPr>
              <a:spcBef>
                <a:spcPct val="0"/>
              </a:spcBef>
            </a:pPr>
            <a:endParaRPr lang="en-US" dirty="0"/>
          </a:p>
          <a:p>
            <a:pPr>
              <a:spcBef>
                <a:spcPct val="0"/>
              </a:spcBef>
            </a:pPr>
            <a:endParaRPr lang="en-US" sz="1600" dirty="0"/>
          </a:p>
          <a:p>
            <a:r>
              <a:rPr lang="en-IN" sz="3200" dirty="0">
                <a:latin typeface="Times New Roman" panose="02020603050405020304" pitchFamily="18" charset="0"/>
                <a:cs typeface="Times New Roman" panose="02020603050405020304" pitchFamily="18" charset="0"/>
              </a:rPr>
              <a:t>Our prototype provides a streamlined workflow:</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Local Proxy Scraping: </a:t>
            </a:r>
            <a:r>
              <a:rPr lang="en-IN" sz="3200" dirty="0">
                <a:latin typeface="Times New Roman" panose="02020603050405020304" pitchFamily="18" charset="0"/>
                <a:cs typeface="Times New Roman" panose="02020603050405020304" pitchFamily="18" charset="0"/>
              </a:rPr>
              <a:t>A dedicated Node.js server handles requests to e-commerce platforms (Amazon/Flipkart), bypassing cross-origin restrictions.</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Multi-Agent AI Analysis: </a:t>
            </a:r>
            <a:r>
              <a:rPr lang="en-IN" sz="3200" dirty="0">
                <a:latin typeface="Times New Roman" panose="02020603050405020304" pitchFamily="18" charset="0"/>
                <a:cs typeface="Times New Roman" panose="02020603050405020304" pitchFamily="18" charset="0"/>
              </a:rPr>
              <a:t>Uses Google Gemini to process review text snippets and categorize sentiment.</a:t>
            </a:r>
          </a:p>
          <a:p>
            <a:endParaRPr lang="en-IN" sz="3200" dirty="0">
              <a:latin typeface="Times New Roman" panose="02020603050405020304" pitchFamily="18" charset="0"/>
              <a:cs typeface="Times New Roman" panose="02020603050405020304" pitchFamily="18" charset="0"/>
            </a:endParaRPr>
          </a:p>
          <a:p>
            <a:r>
              <a:rPr lang="en-IN" sz="3200" b="1" dirty="0">
                <a:latin typeface="Times New Roman" panose="02020603050405020304" pitchFamily="18" charset="0"/>
                <a:cs typeface="Times New Roman" panose="02020603050405020304" pitchFamily="18" charset="0"/>
              </a:rPr>
              <a:t>Visual Dashboard: </a:t>
            </a:r>
            <a:r>
              <a:rPr lang="en-IN" sz="3200" dirty="0">
                <a:latin typeface="Times New Roman" panose="02020603050405020304" pitchFamily="18" charset="0"/>
                <a:cs typeface="Times New Roman" panose="02020603050405020304" pitchFamily="18" charset="0"/>
              </a:rPr>
              <a:t>Displays findings through a modern, responsive React interface.</a:t>
            </a:r>
          </a:p>
        </p:txBody>
      </p:sp>
    </p:spTree>
    <p:extLst>
      <p:ext uri="{BB962C8B-B14F-4D97-AF65-F5344CB8AC3E}">
        <p14:creationId xmlns:p14="http://schemas.microsoft.com/office/powerpoint/2010/main" val="95724880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4BC95-355B-DB5C-38CD-D41F0970A81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D4AE40-8DB8-4B79-B1BE-B96665FE3916}"/>
              </a:ext>
            </a:extLst>
          </p:cNvPr>
          <p:cNvSpPr txBox="1"/>
          <p:nvPr/>
        </p:nvSpPr>
        <p:spPr>
          <a:xfrm>
            <a:off x="1745011" y="211873"/>
            <a:ext cx="11140377" cy="8398709"/>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Technical Architecture</a:t>
            </a:r>
            <a:endParaRPr lang="en-IN" sz="1100" b="1" dirty="0"/>
          </a:p>
          <a:p>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Frontend</a:t>
            </a:r>
          </a:p>
          <a:p>
            <a:pPr>
              <a:lnSpc>
                <a:spcPct val="150000"/>
              </a:lnSpc>
            </a:pPr>
            <a:r>
              <a:rPr lang="en-IN" sz="2400" dirty="0">
                <a:latin typeface="Times New Roman" panose="02020603050405020304" pitchFamily="18" charset="0"/>
                <a:cs typeface="Times New Roman" panose="02020603050405020304" pitchFamily="18" charset="0"/>
              </a:rPr>
              <a:t>Framework: React 19 .</a:t>
            </a:r>
          </a:p>
          <a:p>
            <a:pPr>
              <a:lnSpc>
                <a:spcPct val="150000"/>
              </a:lnSpc>
            </a:pPr>
            <a:r>
              <a:rPr lang="en-IN" sz="2400" dirty="0">
                <a:latin typeface="Times New Roman" panose="02020603050405020304" pitchFamily="18" charset="0"/>
                <a:cs typeface="Times New Roman" panose="02020603050405020304" pitchFamily="18" charset="0"/>
              </a:rPr>
              <a:t>Styling: Vanilla CSS with Tailwind-inspired dark-mode aesthetics.</a:t>
            </a:r>
          </a:p>
          <a:p>
            <a:pPr>
              <a:lnSpc>
                <a:spcPct val="150000"/>
              </a:lnSpc>
            </a:pPr>
            <a:r>
              <a:rPr lang="en-IN" sz="2400" dirty="0">
                <a:latin typeface="Times New Roman" panose="02020603050405020304" pitchFamily="18" charset="0"/>
                <a:cs typeface="Times New Roman" panose="02020603050405020304" pitchFamily="18" charset="0"/>
              </a:rPr>
              <a:t>Data Visualization: Recharts for dynamic sentiment and complaint category distribution.</a:t>
            </a:r>
          </a:p>
          <a:p>
            <a:pPr>
              <a:lnSpc>
                <a:spcPct val="150000"/>
              </a:lnSpc>
            </a:pPr>
            <a:r>
              <a:rPr lang="en-IN" sz="2400" b="1" dirty="0">
                <a:latin typeface="Times New Roman" panose="02020603050405020304" pitchFamily="18" charset="0"/>
                <a:cs typeface="Times New Roman" panose="02020603050405020304" pitchFamily="18" charset="0"/>
              </a:rPr>
              <a:t>Backend &amp; Data Extraction</a:t>
            </a:r>
          </a:p>
          <a:p>
            <a:pPr>
              <a:lnSpc>
                <a:spcPct val="150000"/>
              </a:lnSpc>
            </a:pPr>
            <a:r>
              <a:rPr lang="en-IN" sz="2400" dirty="0">
                <a:latin typeface="Times New Roman" panose="02020603050405020304" pitchFamily="18" charset="0"/>
                <a:cs typeface="Times New Roman" panose="02020603050405020304" pitchFamily="18" charset="0"/>
              </a:rPr>
              <a:t>Server: Node.js + Express.</a:t>
            </a:r>
          </a:p>
          <a:p>
            <a:pPr>
              <a:lnSpc>
                <a:spcPct val="150000"/>
              </a:lnSpc>
            </a:pPr>
            <a:r>
              <a:rPr lang="en-IN" sz="2400" dirty="0">
                <a:latin typeface="Times New Roman" panose="02020603050405020304" pitchFamily="18" charset="0"/>
                <a:cs typeface="Times New Roman" panose="02020603050405020304" pitchFamily="18" charset="0"/>
              </a:rPr>
              <a:t>Language: TypeScript .</a:t>
            </a:r>
          </a:p>
          <a:p>
            <a:pPr>
              <a:lnSpc>
                <a:spcPct val="150000"/>
              </a:lnSpc>
            </a:pPr>
            <a:r>
              <a:rPr lang="en-IN" sz="2400" dirty="0">
                <a:latin typeface="Times New Roman" panose="02020603050405020304" pitchFamily="18" charset="0"/>
                <a:cs typeface="Times New Roman" panose="02020603050405020304" pitchFamily="18" charset="0"/>
              </a:rPr>
              <a:t>Scraper Logic: Custom regex-based engine designed to extract product data.</a:t>
            </a:r>
          </a:p>
          <a:p>
            <a:pPr>
              <a:lnSpc>
                <a:spcPct val="150000"/>
              </a:lnSpc>
            </a:pPr>
            <a:r>
              <a:rPr lang="en-IN" sz="2400" b="1" dirty="0">
                <a:latin typeface="Times New Roman" panose="02020603050405020304" pitchFamily="18" charset="0"/>
                <a:cs typeface="Times New Roman" panose="02020603050405020304" pitchFamily="18" charset="0"/>
              </a:rPr>
              <a:t>AI Integration</a:t>
            </a:r>
          </a:p>
          <a:p>
            <a:pPr>
              <a:lnSpc>
                <a:spcPct val="150000"/>
              </a:lnSpc>
            </a:pPr>
            <a:r>
              <a:rPr lang="en-IN" sz="2400" dirty="0">
                <a:latin typeface="Times New Roman" panose="02020603050405020304" pitchFamily="18" charset="0"/>
                <a:cs typeface="Times New Roman" panose="02020603050405020304" pitchFamily="18" charset="0"/>
              </a:rPr>
              <a:t>API: Google Generative AI SDK (@google/genai).</a:t>
            </a:r>
          </a:p>
          <a:p>
            <a:pPr>
              <a:lnSpc>
                <a:spcPct val="150000"/>
              </a:lnSpc>
            </a:pPr>
            <a:r>
              <a:rPr lang="en-IN" sz="2400" dirty="0">
                <a:latin typeface="Times New Roman" panose="02020603050405020304" pitchFamily="18" charset="0"/>
                <a:cs typeface="Times New Roman" panose="02020603050405020304" pitchFamily="18" charset="0"/>
              </a:rPr>
              <a:t>Prompting Strategy: Dual-agent reasoning chain.</a:t>
            </a:r>
          </a:p>
          <a:p>
            <a:pPr marL="0" lvl="1">
              <a:lnSpc>
                <a:spcPct val="150000"/>
              </a:lnSpc>
            </a:pPr>
            <a:r>
              <a:rPr lang="en-IN" sz="2400" dirty="0">
                <a:latin typeface="Times New Roman" panose="02020603050405020304" pitchFamily="18" charset="0"/>
                <a:cs typeface="Times New Roman" panose="02020603050405020304" pitchFamily="18" charset="0"/>
              </a:rPr>
              <a:t>Phase 1: Sentiment extraction and review normalization.</a:t>
            </a:r>
          </a:p>
          <a:p>
            <a:pPr marL="0" lvl="1">
              <a:lnSpc>
                <a:spcPct val="150000"/>
              </a:lnSpc>
            </a:pPr>
            <a:r>
              <a:rPr lang="en-IN" sz="2400" dirty="0">
                <a:latin typeface="Times New Roman" panose="02020603050405020304" pitchFamily="18" charset="0"/>
                <a:cs typeface="Times New Roman" panose="02020603050405020304" pitchFamily="18" charset="0"/>
              </a:rPr>
              <a:t>Phase 2: Pattern recognition and actionable recommendation generation.</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69250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16FF-D435-2736-2463-6DFFAA10C7B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8E98493-4124-3332-2644-CCCA118DB69D}"/>
              </a:ext>
            </a:extLst>
          </p:cNvPr>
          <p:cNvSpPr txBox="1"/>
          <p:nvPr/>
        </p:nvSpPr>
        <p:spPr>
          <a:xfrm>
            <a:off x="1187450" y="1126273"/>
            <a:ext cx="11140377" cy="618630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Current Project Features</a:t>
            </a:r>
          </a:p>
          <a:p>
            <a:pPr algn="ctr"/>
            <a:endParaRPr lang="en-US" sz="36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Automated Metadata Extraction: </a:t>
            </a:r>
            <a:r>
              <a:rPr lang="en-US" sz="3200" dirty="0">
                <a:latin typeface="Times New Roman" panose="02020603050405020304" pitchFamily="18" charset="0"/>
                <a:cs typeface="Times New Roman" panose="02020603050405020304" pitchFamily="18" charset="0"/>
              </a:rPr>
              <a:t>Paste an Amazon/Flipkart URL and the system automatically pulls the product image and full identification.</a:t>
            </a:r>
          </a:p>
          <a:p>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Review Trend Analysis: </a:t>
            </a:r>
            <a:r>
              <a:rPr lang="en-US" sz="3200" dirty="0">
                <a:latin typeface="Times New Roman" panose="02020603050405020304" pitchFamily="18" charset="0"/>
                <a:cs typeface="Times New Roman" panose="02020603050405020304" pitchFamily="18" charset="0"/>
              </a:rPr>
              <a:t>AI-driven sentiment detection </a:t>
            </a:r>
          </a:p>
          <a:p>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Actionable Business Insights: </a:t>
            </a:r>
            <a:r>
              <a:rPr lang="en-US" sz="3200" dirty="0">
                <a:latin typeface="Times New Roman" panose="02020603050405020304" pitchFamily="18" charset="0"/>
                <a:cs typeface="Times New Roman" panose="02020603050405020304" pitchFamily="18" charset="0"/>
              </a:rPr>
              <a:t>Specifically identifies if a product is failing due to Sizing, Quality, or Listing errors</a:t>
            </a:r>
            <a:r>
              <a:rPr lang="en-US" dirty="0"/>
              <a:t>.</a:t>
            </a:r>
          </a:p>
          <a:p>
            <a:br>
              <a:rPr lang="en-US" sz="3600" dirty="0"/>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29568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987C-D1B4-C2BE-596C-60CA40159E1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75E732-A424-C347-64B8-8607E5188F1B}"/>
              </a:ext>
            </a:extLst>
          </p:cNvPr>
          <p:cNvSpPr txBox="1"/>
          <p:nvPr/>
        </p:nvSpPr>
        <p:spPr>
          <a:xfrm>
            <a:off x="1187450" y="1126273"/>
            <a:ext cx="11140377" cy="6247864"/>
          </a:xfrm>
          <a:prstGeom prst="rect">
            <a:avLst/>
          </a:prstGeom>
          <a:noFill/>
        </p:spPr>
        <p:txBody>
          <a:bodyPr wrap="square">
            <a:spAutoFit/>
          </a:bodyPr>
          <a:lstStyle/>
          <a:p>
            <a:pPr algn="ctr"/>
            <a:r>
              <a:rPr lang="en-US" b="1" dirty="0"/>
              <a:t> </a:t>
            </a:r>
            <a:r>
              <a:rPr lang="en-US" sz="3600" b="1" dirty="0">
                <a:latin typeface="Times New Roman" panose="02020603050405020304" pitchFamily="18" charset="0"/>
                <a:cs typeface="Times New Roman" panose="02020603050405020304" pitchFamily="18" charset="0"/>
              </a:rPr>
              <a:t>Summary</a:t>
            </a:r>
          </a:p>
          <a:p>
            <a:pPr algn="ctr"/>
            <a:endParaRPr lang="en-US" sz="3600" b="1" dirty="0">
              <a:latin typeface="Times New Roman" panose="02020603050405020304" pitchFamily="18" charset="0"/>
              <a:cs typeface="Times New Roman" panose="02020603050405020304" pitchFamily="18" charset="0"/>
            </a:endParaRPr>
          </a:p>
          <a:p>
            <a:pPr algn="ctr"/>
            <a:endParaRPr lang="en-US" sz="36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Return Intelligence Agent is a functional prototype of an AI-powered analytical dashboard developed for e-commerce sellers. By integrating real-time web scraping with the Google Gemini v2.0 API, the system identifies recurring complaint patterns in product reviews. It is currently configured for a robust local development environment, providing immediate actionable insights for sellers to reduce return rates.</a:t>
            </a:r>
          </a:p>
          <a:p>
            <a:br>
              <a:rPr lang="en-US" sz="3600" dirty="0"/>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30876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85615-30CF-1AC0-BFE9-95B5E82096F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C5D544A-3DD7-7A9A-D80E-12A34A5E1144}"/>
              </a:ext>
            </a:extLst>
          </p:cNvPr>
          <p:cNvSpPr txBox="1"/>
          <p:nvPr/>
        </p:nvSpPr>
        <p:spPr>
          <a:xfrm>
            <a:off x="1187450" y="1126273"/>
            <a:ext cx="11140377" cy="2800767"/>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Links</a:t>
            </a:r>
          </a:p>
          <a:p>
            <a:pPr algn="ctr"/>
            <a:endParaRPr lang="en-US" sz="3600" b="1" dirty="0">
              <a:latin typeface="Times New Roman" panose="02020603050405020304" pitchFamily="18" charset="0"/>
              <a:cs typeface="Times New Roman" panose="02020603050405020304" pitchFamily="18" charset="0"/>
            </a:endParaRPr>
          </a:p>
          <a:p>
            <a:pPr algn="ctr"/>
            <a:endParaRPr lang="en-US" sz="3600" b="1" dirty="0">
              <a:latin typeface="Times New Roman" panose="02020603050405020304" pitchFamily="18" charset="0"/>
              <a:cs typeface="Times New Roman" panose="02020603050405020304" pitchFamily="18" charset="0"/>
            </a:endParaRPr>
          </a:p>
          <a:p>
            <a:r>
              <a:rPr lang="en-US" sz="3600" dirty="0" err="1"/>
              <a:t>Github</a:t>
            </a:r>
            <a:r>
              <a:rPr lang="en-US" sz="3600" dirty="0"/>
              <a:t> repo : </a:t>
            </a:r>
            <a:r>
              <a:rPr lang="en-US" sz="2400" dirty="0">
                <a:hlinkClick r:id="rId2"/>
              </a:rPr>
              <a:t>https://github.com/Thirumalai1437/Return-Intelligence-Agent</a:t>
            </a:r>
            <a:br>
              <a:rPr lang="en-US" sz="3600" dirty="0"/>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90032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195</TotalTime>
  <Words>369</Words>
  <Application>Microsoft Office PowerPoint</Application>
  <PresentationFormat>Custom</PresentationFormat>
  <Paragraphs>58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Century Gothic</vt:lpstr>
      <vt:lpstr>Open Sans</vt:lpstr>
      <vt:lpstr>Times New Roman</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Thirumalaiselvan R</dc:creator>
  <cp:lastModifiedBy>Thirumalaiselvan R</cp:lastModifiedBy>
  <cp:revision>7</cp:revision>
  <dcterms:created xsi:type="dcterms:W3CDTF">2025-10-08T14:56:22Z</dcterms:created>
  <dcterms:modified xsi:type="dcterms:W3CDTF">2026-03-13T02:57:28Z</dcterms:modified>
</cp:coreProperties>
</file>